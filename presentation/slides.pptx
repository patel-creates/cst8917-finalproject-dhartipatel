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8F924BE-73D6-4B65-BDC4-EC49AF1AB63F}">
  <a:tblStyle styleId="{18F924BE-73D6-4B65-BDC4-EC49AF1AB63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7" name="Google Shape;13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4" name="Google Shape;23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9" name="Google Shape;249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D3A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731520" y="2011680"/>
            <a:ext cx="109728" cy="256032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/>
          <p:nvPr/>
        </p:nvSpPr>
        <p:spPr>
          <a:xfrm>
            <a:off x="1097280" y="1828800"/>
            <a:ext cx="100584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CST8917 Final Assignment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1097280" y="2377440"/>
            <a:ext cx="1005840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Expense Approval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Workflow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1097280" y="4572000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2200"/>
              <a:buFont typeface="Calibri"/>
              <a:buNone/>
            </a:pPr>
            <a:r>
              <a:rPr b="0" i="1" lang="en-US" sz="22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Durable Functions vs Logic Apps + Service Bus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1097280" y="5760720"/>
            <a:ext cx="100584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Dharti Patel</a:t>
            </a:r>
            <a:r>
              <a:rPr b="0" i="0" lang="en-US" sz="16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   •   April 21,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4000"/>
              <a:buFont typeface="Calibri"/>
              <a:buNone/>
            </a:pPr>
            <a:r>
              <a:rPr b="1" i="0" lang="en-US" sz="40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b="0" i="0" sz="4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48640" y="1051560"/>
            <a:ext cx="73152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731520" y="164592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2011680" y="178308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Business problem &amp; workflow rules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731520" y="251460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2011680" y="265176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Two architectures side-by-side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731520" y="338328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2011680" y="352044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Live demo: test scenarios &amp; evidence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731520" y="425196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2011680" y="438912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Comparison across 6 dimensions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731520" y="5120640"/>
            <a:ext cx="10972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4800"/>
              <a:buFont typeface="Calibri"/>
              <a:buNone/>
            </a:pPr>
            <a:r>
              <a:rPr b="1" i="0" lang="en-US" sz="4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4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2011680" y="5257800"/>
            <a:ext cx="91440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Recommendation &amp; lessons learned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5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Business Rules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600"/>
              <a:buFont typeface="Calibri"/>
              <a:buNone/>
            </a:pPr>
            <a:r>
              <a:rPr b="0" i="1" lang="en-US" sz="16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The same workflow, implemented two ways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48640" y="1645920"/>
            <a:ext cx="530352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5"/>
          <p:cNvSpPr/>
          <p:nvPr/>
        </p:nvSpPr>
        <p:spPr>
          <a:xfrm>
            <a:off x="822960" y="1828800"/>
            <a:ext cx="47548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Input Fields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822960" y="2331720"/>
            <a:ext cx="475488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employee_name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employee_email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amount  (number)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category  (travel, meals, supplies,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          equipment, software, other)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description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onsolas"/>
              <a:buNone/>
            </a:pPr>
            <a:r>
              <a:rPr b="0" i="0" lang="en-US" sz="13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manager_email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6217920" y="1645920"/>
            <a:ext cx="54864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12700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6492240" y="182880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Decision Flow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6492240" y="2514600"/>
            <a:ext cx="274320" cy="274320"/>
          </a:xfrm>
          <a:prstGeom prst="ellipse">
            <a:avLst/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5"/>
          <p:cNvSpPr/>
          <p:nvPr/>
        </p:nvSpPr>
        <p:spPr>
          <a:xfrm>
            <a:off x="6903720" y="24231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Validate input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6492240" y="3108960"/>
            <a:ext cx="274320" cy="274320"/>
          </a:xfrm>
          <a:prstGeom prst="ellipse">
            <a:avLst/>
          </a:prstGeom>
          <a:solidFill>
            <a:srgbClr val="6FCF97"/>
          </a:solidFill>
          <a:ln cap="flat" cmpd="sng" w="127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6903720" y="301752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Amount &lt; $100  →  auto-approve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6492240" y="3703320"/>
            <a:ext cx="274320" cy="274320"/>
          </a:xfrm>
          <a:prstGeom prst="ellipse">
            <a:avLst/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5"/>
          <p:cNvSpPr/>
          <p:nvPr/>
        </p:nvSpPr>
        <p:spPr>
          <a:xfrm>
            <a:off x="6903720" y="361188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Amount ≥ $100  →  manager approves/rejects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6492240" y="4297680"/>
            <a:ext cx="274320" cy="274320"/>
          </a:xfrm>
          <a:prstGeom prst="ellipse">
            <a:avLst/>
          </a:prstGeom>
          <a:solidFill>
            <a:srgbClr val="F2C94C"/>
          </a:solidFill>
          <a:ln cap="flat" cmpd="sng" w="12700">
            <a:solidFill>
              <a:srgbClr val="F2C9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5"/>
          <p:cNvSpPr/>
          <p:nvPr/>
        </p:nvSpPr>
        <p:spPr>
          <a:xfrm>
            <a:off x="6903720" y="420624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response in window  →  escalate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6492240" y="4892040"/>
            <a:ext cx="274320" cy="274320"/>
          </a:xfrm>
          <a:prstGeom prst="ellipse">
            <a:avLst/>
          </a:prstGeom>
          <a:solidFill>
            <a:srgbClr val="E87A7A"/>
          </a:solidFill>
          <a:ln cap="flat" cmpd="sng" w="127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5"/>
          <p:cNvSpPr/>
          <p:nvPr/>
        </p:nvSpPr>
        <p:spPr>
          <a:xfrm>
            <a:off x="6903720" y="480060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Invalid input  →  reject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6492240" y="5486400"/>
            <a:ext cx="274320" cy="274320"/>
          </a:xfrm>
          <a:prstGeom prst="ellipse">
            <a:avLst/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5"/>
          <p:cNvSpPr/>
          <p:nvPr/>
        </p:nvSpPr>
        <p:spPr>
          <a:xfrm>
            <a:off x="6903720" y="5394960"/>
            <a:ext cx="4572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Notify employee via email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6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Version 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Durable Functions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1737360"/>
            <a:ext cx="5486400" cy="640080"/>
          </a:xfrm>
          <a:prstGeom prst="roundRect">
            <a:avLst>
              <a:gd fmla="val 8571" name="adj"/>
            </a:avLst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/>
          <p:nvPr/>
        </p:nvSpPr>
        <p:spPr>
          <a:xfrm>
            <a:off x="640080" y="17373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HTTP Client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(Starts orchestration)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/>
          <p:nvPr/>
        </p:nvSpPr>
        <p:spPr>
          <a:xfrm>
            <a:off x="548640" y="2651760"/>
            <a:ext cx="5486400" cy="640080"/>
          </a:xfrm>
          <a:prstGeom prst="roundRect">
            <a:avLst>
              <a:gd fmla="val 8571" name="adj"/>
            </a:avLst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6"/>
          <p:cNvSpPr/>
          <p:nvPr/>
        </p:nvSpPr>
        <p:spPr>
          <a:xfrm>
            <a:off x="640080" y="26517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Orchestrator Function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(Stateful, checkpointed)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3566160"/>
            <a:ext cx="5486400" cy="640080"/>
          </a:xfrm>
          <a:prstGeom prst="roundRect">
            <a:avLst>
              <a:gd fmla="val 8571" name="adj"/>
            </a:avLst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640080" y="356616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Activity: Validate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548640" y="4206240"/>
            <a:ext cx="5486400" cy="640080"/>
          </a:xfrm>
          <a:prstGeom prst="roundRect">
            <a:avLst>
              <a:gd fmla="val 8571" name="adj"/>
            </a:avLst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40080" y="420624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Activity: Send Approval Email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4846320"/>
            <a:ext cx="5486400" cy="640080"/>
          </a:xfrm>
          <a:prstGeom prst="roundRect">
            <a:avLst>
              <a:gd fmla="val 8571" name="adj"/>
            </a:avLst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6"/>
          <p:cNvSpPr/>
          <p:nvPr/>
        </p:nvSpPr>
        <p:spPr>
          <a:xfrm>
            <a:off x="640080" y="484632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wait_for_external_event  OR  timer (task_any)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548640" y="5486400"/>
            <a:ext cx="5486400" cy="640080"/>
          </a:xfrm>
          <a:prstGeom prst="roundRect">
            <a:avLst>
              <a:gd fmla="val 8571" name="adj"/>
            </a:avLst>
          </a:prstGeom>
          <a:solidFill>
            <a:srgbClr val="4A90E2"/>
          </a:solidFill>
          <a:ln cap="flat" cmpd="sng" w="12700">
            <a:solidFill>
              <a:srgbClr val="4A90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6"/>
          <p:cNvSpPr/>
          <p:nvPr/>
        </p:nvSpPr>
        <p:spPr>
          <a:xfrm>
            <a:off x="640080" y="5486400"/>
            <a:ext cx="530352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Activity: Notify Employee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6583680" y="1737360"/>
            <a:ext cx="53035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Key Characteristics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6"/>
          <p:cNvSpPr/>
          <p:nvPr/>
        </p:nvSpPr>
        <p:spPr>
          <a:xfrm>
            <a:off x="6583680" y="2377440"/>
            <a:ext cx="320040" cy="320040"/>
          </a:xfrm>
          <a:prstGeom prst="ellipse">
            <a:avLst/>
          </a:prstGeom>
          <a:solidFill>
            <a:srgbClr val="6FCF97"/>
          </a:solidFill>
          <a:ln cap="flat" cmpd="sng" w="127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6"/>
          <p:cNvSpPr/>
          <p:nvPr/>
        </p:nvSpPr>
        <p:spPr>
          <a:xfrm>
            <a:off x="6583680" y="23774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040880" y="23317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Code-first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7040880" y="26974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Python orchestrator + activity functions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6583680" y="3291840"/>
            <a:ext cx="320040" cy="320040"/>
          </a:xfrm>
          <a:prstGeom prst="ellipse">
            <a:avLst/>
          </a:prstGeom>
          <a:solidFill>
            <a:srgbClr val="6FCF97"/>
          </a:solidFill>
          <a:ln cap="flat" cmpd="sng" w="127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6"/>
          <p:cNvSpPr/>
          <p:nvPr/>
        </p:nvSpPr>
        <p:spPr>
          <a:xfrm>
            <a:off x="6583680" y="32918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040880" y="32461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Stateful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040880" y="36118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State checkpointed to Azure Storage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6583680" y="4206240"/>
            <a:ext cx="320040" cy="320040"/>
          </a:xfrm>
          <a:prstGeom prst="ellipse">
            <a:avLst/>
          </a:prstGeom>
          <a:solidFill>
            <a:srgbClr val="6FCF97"/>
          </a:solidFill>
          <a:ln cap="flat" cmpd="sng" w="127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6"/>
          <p:cNvSpPr/>
          <p:nvPr/>
        </p:nvSpPr>
        <p:spPr>
          <a:xfrm>
            <a:off x="6583680" y="42062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7040880" y="41605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Native human-in-loop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7040880" y="45262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task_any([event, timer]) is built-in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6583680" y="5120640"/>
            <a:ext cx="320040" cy="320040"/>
          </a:xfrm>
          <a:prstGeom prst="ellipse">
            <a:avLst/>
          </a:prstGeom>
          <a:solidFill>
            <a:srgbClr val="6FCF97"/>
          </a:solidFill>
          <a:ln cap="flat" cmpd="sng" w="127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6583680" y="51206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✓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7040880" y="507492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Testable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7040880" y="5440680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1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Unit-test activities + mock orchestrator context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7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7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548640" y="365760"/>
            <a:ext cx="3657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Version B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7"/>
          <p:cNvSpPr/>
          <p:nvPr/>
        </p:nvSpPr>
        <p:spPr>
          <a:xfrm>
            <a:off x="548640" y="68580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Logic Apps + Service Bus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7"/>
          <p:cNvSpPr/>
          <p:nvPr/>
        </p:nvSpPr>
        <p:spPr>
          <a:xfrm>
            <a:off x="548640" y="1737360"/>
            <a:ext cx="2743200" cy="731520"/>
          </a:xfrm>
          <a:prstGeom prst="roundRect">
            <a:avLst>
              <a:gd fmla="val 7500" name="adj"/>
            </a:avLst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548640" y="1737360"/>
            <a:ext cx="2743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Bus Queue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expense-requests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3840480" y="1737360"/>
            <a:ext cx="4297680" cy="731520"/>
          </a:xfrm>
          <a:prstGeom prst="roundRect">
            <a:avLst>
              <a:gd fmla="val 7500" name="adj"/>
            </a:avLst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3840480" y="1737360"/>
            <a:ext cx="4297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Logic App (Consumption)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cst8917-expense-logic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8686800" y="1737360"/>
            <a:ext cx="3017520" cy="731520"/>
          </a:xfrm>
          <a:prstGeom prst="roundRect">
            <a:avLst>
              <a:gd fmla="val 7500" name="adj"/>
            </a:avLst>
          </a:prstGeom>
          <a:solidFill>
            <a:srgbClr val="7B68EE"/>
          </a:solidFill>
          <a:ln cap="flat" cmpd="sng" w="12700">
            <a:solidFill>
              <a:srgbClr val="7B68E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7"/>
          <p:cNvSpPr/>
          <p:nvPr/>
        </p:nvSpPr>
        <p:spPr>
          <a:xfrm>
            <a:off x="8686800" y="1737360"/>
            <a:ext cx="301752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Azure Function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548640" y="3108960"/>
            <a:ext cx="11155680" cy="731520"/>
          </a:xfrm>
          <a:prstGeom prst="roundRect">
            <a:avLst>
              <a:gd fmla="val 7500" name="adj"/>
            </a:avLst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7"/>
          <p:cNvSpPr/>
          <p:nvPr/>
        </p:nvSpPr>
        <p:spPr>
          <a:xfrm>
            <a:off x="548640" y="3108960"/>
            <a:ext cx="1115568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Service Bus Topic  •  expense-outcomes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548640" y="4114800"/>
            <a:ext cx="365760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7"/>
          <p:cNvSpPr/>
          <p:nvPr/>
        </p:nvSpPr>
        <p:spPr>
          <a:xfrm>
            <a:off x="548640" y="4160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approved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640080" y="4617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SqlFilter:  outcome = 'approved'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4297680" y="4114800"/>
            <a:ext cx="365760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7"/>
          <p:cNvSpPr/>
          <p:nvPr/>
        </p:nvSpPr>
        <p:spPr>
          <a:xfrm>
            <a:off x="4297680" y="4160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7A7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7A7A"/>
                </a:solidFill>
                <a:latin typeface="Calibri"/>
                <a:ea typeface="Calibri"/>
                <a:cs typeface="Calibri"/>
                <a:sym typeface="Calibri"/>
              </a:rPr>
              <a:t>rejected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7"/>
          <p:cNvSpPr/>
          <p:nvPr/>
        </p:nvSpPr>
        <p:spPr>
          <a:xfrm>
            <a:off x="4389120" y="4617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SqlFilter:  outcome = 'rejected'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7"/>
          <p:cNvSpPr/>
          <p:nvPr/>
        </p:nvSpPr>
        <p:spPr>
          <a:xfrm>
            <a:off x="8046720" y="4114800"/>
            <a:ext cx="3657600" cy="1097280"/>
          </a:xfrm>
          <a:prstGeom prst="roundRect">
            <a:avLst>
              <a:gd fmla="val 5000" name="adj"/>
            </a:avLst>
          </a:prstGeom>
          <a:solidFill>
            <a:srgbClr val="FFFFFF"/>
          </a:solidFill>
          <a:ln cap="flat" cmpd="sng" w="38100">
            <a:solidFill>
              <a:srgbClr val="F2C94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7"/>
          <p:cNvSpPr/>
          <p:nvPr/>
        </p:nvSpPr>
        <p:spPr>
          <a:xfrm>
            <a:off x="8046720" y="4160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escalated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7"/>
          <p:cNvSpPr/>
          <p:nvPr/>
        </p:nvSpPr>
        <p:spPr>
          <a:xfrm>
            <a:off x="8138160" y="4617720"/>
            <a:ext cx="3474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5D6D7E"/>
                </a:solidFill>
                <a:latin typeface="Consolas"/>
                <a:ea typeface="Consolas"/>
                <a:cs typeface="Consolas"/>
                <a:sym typeface="Consolas"/>
              </a:rPr>
              <a:t>SqlFilter:  outcome = 'escalated'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7"/>
          <p:cNvSpPr/>
          <p:nvPr/>
        </p:nvSpPr>
        <p:spPr>
          <a:xfrm>
            <a:off x="548640" y="5669280"/>
            <a:ext cx="111556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Message publishes to topic with custom property `outcome`; SQL filters route to the matching subscription.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8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Live Demo  •  End-to-End Evidence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6 scenarios tested on Version B — topic routing verified across all three outcome paths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claude/CST8917-FinalProject-DhartiPatel/version-b-logic-apps/screenshots/FINAL-all-3-subscriptions.png" id="145" name="Google Shape;14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554480"/>
            <a:ext cx="6858000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548640" y="6172200"/>
            <a:ext cx="68580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100"/>
              <a:buFont typeface="Calibri"/>
              <a:buNone/>
            </a:pPr>
            <a:r>
              <a:rPr b="0" i="1" lang="en-US" sz="11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expense-outcomes  •  all 3 subscriptions populated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7680960" y="1554480"/>
            <a:ext cx="4114800" cy="4846320"/>
          </a:xfrm>
          <a:prstGeom prst="roundRect">
            <a:avLst>
              <a:gd fmla="val 1778" name="adj"/>
            </a:avLst>
          </a:prstGeom>
          <a:solidFill>
            <a:srgbClr val="FFFFFF"/>
          </a:solidFill>
          <a:ln cap="flat" cmpd="sng" w="12700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"/>
          <p:cNvSpPr/>
          <p:nvPr/>
        </p:nvSpPr>
        <p:spPr>
          <a:xfrm>
            <a:off x="7955280" y="17373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Scenarios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7955280" y="23317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✓ Auto-approve  (&lt; $100)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7955280" y="292608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✓ Manager approves  ($250)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7955280" y="352044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✓ Manager rejects  ($500)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7955280" y="411480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2C94C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2C94C"/>
                </a:solidFill>
                <a:latin typeface="Calibri"/>
                <a:ea typeface="Calibri"/>
                <a:cs typeface="Calibri"/>
                <a:sym typeface="Calibri"/>
              </a:rPr>
              <a:t>◐ Escalation  ($150)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7955280" y="470916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✓ Missing fields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7955280" y="5303520"/>
            <a:ext cx="3657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✓ Invalid category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7955280" y="5989320"/>
            <a:ext cx="3657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000"/>
              <a:buFont typeface="Calibri"/>
              <a:buNone/>
            </a:pPr>
            <a:r>
              <a:rPr b="0" i="1" lang="en-US" sz="10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◐ Partial — see Lessons Learned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7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1  •  Development Experience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fmla="val 1923" name="adj"/>
            </a:avLst>
          </a:prstGeom>
          <a:solidFill>
            <a:srgbClr val="FFFFFF"/>
          </a:solidFill>
          <a:ln cap="flat" cmpd="sng" w="254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9"/>
          <p:cNvSpPr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Durable Functions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731520" y="228600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Slower to start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Environment setup, programming model conceptually.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Real productivity once scaffolded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IntelliSense, debugger, stack traces, Python idioms.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6309360" y="1463040"/>
            <a:ext cx="5486400" cy="4754880"/>
          </a:xfrm>
          <a:prstGeom prst="roundRect">
            <a:avLst>
              <a:gd fmla="val 1923" name="adj"/>
            </a:avLst>
          </a:prstGeom>
          <a:solidFill>
            <a:srgbClr val="FFFFFF"/>
          </a:solidFill>
          <a:ln cap="flat" cmpd="sng" w="254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9"/>
          <p:cNvSpPr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Logic Apps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6492240" y="2286000"/>
            <a:ext cx="5120640" cy="365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Faster initial cost of entry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Drag-and-drop skeleton before writing expressions.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Productivity evaporates with complexity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Expressions have no type checking, no autocomplete, no inline docs.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0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0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10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8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0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2  •  Testability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0"/>
          <p:cNvSpPr/>
          <p:nvPr/>
        </p:nvSpPr>
        <p:spPr>
          <a:xfrm>
            <a:off x="548640" y="1645920"/>
            <a:ext cx="11155680" cy="1371600"/>
          </a:xfrm>
          <a:prstGeom prst="roundRect">
            <a:avLst>
              <a:gd fmla="val 6667" name="adj"/>
            </a:avLst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0"/>
          <p:cNvSpPr/>
          <p:nvPr/>
        </p:nvSpPr>
        <p:spPr>
          <a:xfrm>
            <a:off x="731520" y="1828800"/>
            <a:ext cx="10789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Durable Functions wins decisively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0"/>
          <p:cNvSpPr/>
          <p:nvPr/>
        </p:nvSpPr>
        <p:spPr>
          <a:xfrm>
            <a:off x="731520" y="2423160"/>
            <a:ext cx="107899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Activity functions = plain Python, unit-testable with pytest. Orchestrator testable with DurableOrchestrationContext mock.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0"/>
          <p:cNvSpPr/>
          <p:nvPr/>
        </p:nvSpPr>
        <p:spPr>
          <a:xfrm>
            <a:off x="548640" y="3291840"/>
            <a:ext cx="11155680" cy="3017520"/>
          </a:xfrm>
          <a:prstGeom prst="roundRect">
            <a:avLst>
              <a:gd fmla="val 3030" name="adj"/>
            </a:avLst>
          </a:prstGeom>
          <a:solidFill>
            <a:srgbClr val="FFFFFF"/>
          </a:solidFill>
          <a:ln cap="flat" cmpd="sng" w="254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"/>
          <p:cNvSpPr/>
          <p:nvPr/>
        </p:nvSpPr>
        <p:spPr>
          <a:xfrm>
            <a:off x="822960" y="352044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7A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E87A7A"/>
                </a:solidFill>
                <a:latin typeface="Calibri"/>
                <a:ea typeface="Calibri"/>
                <a:cs typeface="Calibri"/>
                <a:sym typeface="Calibri"/>
              </a:rPr>
              <a:t>Logic Apps has no local unit test story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0"/>
          <p:cNvSpPr/>
          <p:nvPr/>
        </p:nvSpPr>
        <p:spPr>
          <a:xfrm>
            <a:off x="822960" y="4297680"/>
            <a:ext cx="182880" cy="182880"/>
          </a:xfrm>
          <a:prstGeom prst="ellipse">
            <a:avLst/>
          </a:prstGeom>
          <a:solidFill>
            <a:srgbClr val="E87A7A"/>
          </a:solidFill>
          <a:ln cap="flat" cmpd="sng" w="127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10"/>
          <p:cNvSpPr/>
          <p:nvPr/>
        </p:nvSpPr>
        <p:spPr>
          <a:xfrm>
            <a:off x="1143000" y="4206240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local-first development for Consumption-tier workflows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0"/>
          <p:cNvSpPr/>
          <p:nvPr/>
        </p:nvSpPr>
        <p:spPr>
          <a:xfrm>
            <a:off x="822960" y="4773168"/>
            <a:ext cx="182880" cy="182880"/>
          </a:xfrm>
          <a:prstGeom prst="ellipse">
            <a:avLst/>
          </a:prstGeom>
          <a:solidFill>
            <a:srgbClr val="E87A7A"/>
          </a:solidFill>
          <a:ln cap="flat" cmpd="sng" w="127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"/>
          <p:cNvSpPr/>
          <p:nvPr/>
        </p:nvSpPr>
        <p:spPr>
          <a:xfrm>
            <a:off x="1143000" y="4681728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Only way to verify a branch: send a real message and inspect run history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0"/>
          <p:cNvSpPr/>
          <p:nvPr/>
        </p:nvSpPr>
        <p:spPr>
          <a:xfrm>
            <a:off x="822960" y="5248656"/>
            <a:ext cx="182880" cy="182880"/>
          </a:xfrm>
          <a:prstGeom prst="ellipse">
            <a:avLst/>
          </a:prstGeom>
          <a:solidFill>
            <a:srgbClr val="E87A7A"/>
          </a:solidFill>
          <a:ln cap="flat" cmpd="sng" w="127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10"/>
          <p:cNvSpPr/>
          <p:nvPr/>
        </p:nvSpPr>
        <p:spPr>
          <a:xfrm>
            <a:off x="1143000" y="5157216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During debugging, could not easily isolate whether failure was in Parse_JSON, the Azure Function, or topic publish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0"/>
          <p:cNvSpPr/>
          <p:nvPr/>
        </p:nvSpPr>
        <p:spPr>
          <a:xfrm>
            <a:off x="822960" y="5724144"/>
            <a:ext cx="182880" cy="182880"/>
          </a:xfrm>
          <a:prstGeom prst="ellipse">
            <a:avLst/>
          </a:prstGeom>
          <a:solidFill>
            <a:srgbClr val="E87A7A"/>
          </a:solidFill>
          <a:ln cap="flat" cmpd="sng" w="127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0"/>
          <p:cNvSpPr/>
          <p:nvPr/>
        </p:nvSpPr>
        <p:spPr>
          <a:xfrm>
            <a:off x="1143000" y="5632704"/>
            <a:ext cx="10332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All three ran together inside a single cloud execution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1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11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1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9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1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3  •  Error Handling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1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 real bug I hit — and what each platform would have done with it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1"/>
          <p:cNvSpPr/>
          <p:nvPr/>
        </p:nvSpPr>
        <p:spPr>
          <a:xfrm>
            <a:off x="548640" y="1645920"/>
            <a:ext cx="11155680" cy="1645920"/>
          </a:xfrm>
          <a:prstGeom prst="roundRect">
            <a:avLst>
              <a:gd fmla="val 5556" name="adj"/>
            </a:avLst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1"/>
          <p:cNvSpPr/>
          <p:nvPr/>
        </p:nvSpPr>
        <p:spPr>
          <a:xfrm>
            <a:off x="822960" y="1783080"/>
            <a:ext cx="105156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The bug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1"/>
          <p:cNvSpPr/>
          <p:nvPr/>
        </p:nvSpPr>
        <p:spPr>
          <a:xfrm>
            <a:off x="822960" y="214884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onsolas"/>
              <a:buNone/>
            </a:pPr>
            <a:r>
              <a:rPr b="0" i="0" lang="en-US" sz="17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@result('Manager_Approval_Scope', 'Succeeded')[0]['status']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1"/>
          <p:cNvSpPr/>
          <p:nvPr/>
        </p:nvSpPr>
        <p:spPr>
          <a:xfrm>
            <a:off x="822960" y="265176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Empty array access when scope times out  →  runtime error  →  whole run fails opaquely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1"/>
          <p:cNvSpPr/>
          <p:nvPr/>
        </p:nvSpPr>
        <p:spPr>
          <a:xfrm>
            <a:off x="548640" y="3566160"/>
            <a:ext cx="5486400" cy="26517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25400">
            <a:solidFill>
              <a:srgbClr val="6FCF9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11"/>
          <p:cNvSpPr/>
          <p:nvPr/>
        </p:nvSpPr>
        <p:spPr>
          <a:xfrm>
            <a:off x="731520" y="37033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Durable Functions would have…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1"/>
          <p:cNvSpPr/>
          <p:nvPr/>
        </p:nvSpPr>
        <p:spPr>
          <a:xfrm>
            <a:off x="731520" y="4114800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Caught it at authoring time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IndexError on empty list is a Python stack trace, not a workflow-level mystery failure.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Wrapped in try/except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Compensation logic runs as normal Python.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1"/>
          <p:cNvSpPr/>
          <p:nvPr/>
        </p:nvSpPr>
        <p:spPr>
          <a:xfrm>
            <a:off x="6309360" y="3566160"/>
            <a:ext cx="5486400" cy="2651760"/>
          </a:xfrm>
          <a:prstGeom prst="roundRect">
            <a:avLst>
              <a:gd fmla="val 2759" name="adj"/>
            </a:avLst>
          </a:prstGeom>
          <a:solidFill>
            <a:srgbClr val="FFFFFF"/>
          </a:solidFill>
          <a:ln cap="flat" cmpd="sng" w="254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1"/>
          <p:cNvSpPr/>
          <p:nvPr/>
        </p:nvSpPr>
        <p:spPr>
          <a:xfrm>
            <a:off x="6492240" y="370332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7A"/>
              </a:buClr>
              <a:buSzPts val="1500"/>
              <a:buFont typeface="Calibri"/>
              <a:buNone/>
            </a:pPr>
            <a:r>
              <a:rPr b="1" i="0" lang="en-US" sz="1500" u="none" cap="none" strike="noStrike">
                <a:solidFill>
                  <a:srgbClr val="E87A7A"/>
                </a:solidFill>
                <a:latin typeface="Calibri"/>
                <a:ea typeface="Calibri"/>
                <a:cs typeface="Calibri"/>
                <a:sym typeface="Calibri"/>
              </a:rPr>
              <a:t>Logic Apps surfaced…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1"/>
          <p:cNvSpPr/>
          <p:nvPr/>
        </p:nvSpPr>
        <p:spPr>
          <a:xfrm>
            <a:off x="6492240" y="4114800"/>
            <a:ext cx="5120640" cy="2011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A generic red X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"ActionFailed. No dependent actions succeeded" — on the parent action, not the real culprit.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Calibri"/>
              <a:buNone/>
            </a:pPr>
            <a:r>
              <a:rPr b="0" i="0" lang="en-US" sz="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No retry option that fits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Built-in retry policy doesn't help a logic bug.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2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12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2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10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2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4  •  Human Interaction Pattern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2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Where the two platforms diverge most sharply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2"/>
          <p:cNvSpPr/>
          <p:nvPr/>
        </p:nvSpPr>
        <p:spPr>
          <a:xfrm>
            <a:off x="548640" y="1645920"/>
            <a:ext cx="54864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254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2"/>
          <p:cNvSpPr/>
          <p:nvPr/>
        </p:nvSpPr>
        <p:spPr>
          <a:xfrm>
            <a:off x="731520" y="17830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Durable Functions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2"/>
          <p:cNvSpPr/>
          <p:nvPr/>
        </p:nvSpPr>
        <p:spPr>
          <a:xfrm>
            <a:off x="731520" y="2240280"/>
            <a:ext cx="5120640" cy="182880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12"/>
          <p:cNvSpPr/>
          <p:nvPr/>
        </p:nvSpPr>
        <p:spPr>
          <a:xfrm>
            <a:off x="822960" y="2331720"/>
            <a:ext cx="493776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approval = context.wait_for_external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_event("ManagerDecision")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timer = context.create_timer(deadline)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Calibri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winner = yield context.task_any(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    [approval, timer]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onsolas"/>
              <a:buNone/>
            </a:pPr>
            <a:r>
              <a:rPr b="0" i="0" lang="en-US" sz="1100" u="none" cap="none" strike="noStrike">
                <a:solidFill>
                  <a:srgbClr val="FFFFFF"/>
                </a:solidFill>
                <a:latin typeface="Consolas"/>
                <a:ea typeface="Consolas"/>
                <a:cs typeface="Consolas"/>
                <a:sym typeface="Consolas"/>
              </a:rPr>
              <a:t>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2"/>
          <p:cNvSpPr/>
          <p:nvPr/>
        </p:nvSpPr>
        <p:spPr>
          <a:xfrm>
            <a:off x="731520" y="42062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FCF97"/>
              </a:buClr>
              <a:buSzPts val="1300"/>
              <a:buFont typeface="Calibri"/>
              <a:buNone/>
            </a:pPr>
            <a:r>
              <a:rPr b="1" i="1" lang="en-US" sz="1300" u="none" cap="none" strike="noStrike">
                <a:solidFill>
                  <a:srgbClr val="6FCF97"/>
                </a:solidFill>
                <a:latin typeface="Calibri"/>
                <a:ea typeface="Calibri"/>
                <a:cs typeface="Calibri"/>
                <a:sym typeface="Calibri"/>
              </a:rPr>
              <a:t>One expression. State checkpointed. Events correlated by instance ID.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2"/>
          <p:cNvSpPr/>
          <p:nvPr/>
        </p:nvSpPr>
        <p:spPr>
          <a:xfrm>
            <a:off x="731520" y="4663440"/>
            <a:ext cx="512064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Architecturally immune to expired-callback bugs.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2"/>
          <p:cNvSpPr/>
          <p:nvPr/>
        </p:nvSpPr>
        <p:spPr>
          <a:xfrm>
            <a:off x="6309360" y="1645920"/>
            <a:ext cx="5486400" cy="4572000"/>
          </a:xfrm>
          <a:prstGeom prst="roundRect">
            <a:avLst>
              <a:gd fmla="val 2000" name="adj"/>
            </a:avLst>
          </a:prstGeom>
          <a:solidFill>
            <a:srgbClr val="FFFFFF"/>
          </a:solidFill>
          <a:ln cap="flat" cmpd="sng" w="254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2"/>
          <p:cNvSpPr/>
          <p:nvPr/>
        </p:nvSpPr>
        <p:spPr>
          <a:xfrm>
            <a:off x="6492240" y="1783080"/>
            <a:ext cx="51206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Logic Apps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/>
          <p:nvPr/>
        </p:nvSpPr>
        <p:spPr>
          <a:xfrm>
            <a:off x="6492240" y="2240280"/>
            <a:ext cx="51206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200"/>
              <a:buFont typeface="Consolas"/>
              <a:buNone/>
            </a:pPr>
            <a:r>
              <a:rPr b="0" i="0" lang="en-US" sz="1200" u="none" cap="none" strike="noStrike">
                <a:solidFill>
                  <a:srgbClr val="1A1A2E"/>
                </a:solidFill>
                <a:latin typeface="Consolas"/>
                <a:ea typeface="Consolas"/>
                <a:cs typeface="Consolas"/>
                <a:sym typeface="Consolas"/>
              </a:rPr>
              <a:t>ApiConnectionWebhook + @listCallbackUrl()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Works for the happy path, but: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• Callback URLs expire when the run completes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• Clicking old email  →  "workflow not in Running state"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• Empty result() array trap on timeout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7A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E87A7A"/>
                </a:solidFill>
                <a:latin typeface="Calibri"/>
                <a:ea typeface="Calibri"/>
                <a:cs typeface="Calibri"/>
                <a:sym typeface="Calibri"/>
              </a:rPr>
              <a:t>Real user-facing failure mode, not just a dev headache.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3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13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11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5  •  Observability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/>
          <p:nvPr/>
        </p:nvSpPr>
        <p:spPr>
          <a:xfrm>
            <a:off x="548640" y="1463040"/>
            <a:ext cx="5486400" cy="4754880"/>
          </a:xfrm>
          <a:prstGeom prst="roundRect">
            <a:avLst>
              <a:gd fmla="val 1923" name="adj"/>
            </a:avLst>
          </a:prstGeom>
          <a:solidFill>
            <a:srgbClr val="FFFFFF"/>
          </a:solidFill>
          <a:ln cap="flat" cmpd="sng" w="254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3"/>
          <p:cNvSpPr/>
          <p:nvPr/>
        </p:nvSpPr>
        <p:spPr>
          <a:xfrm>
            <a:off x="731520" y="1645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Logic Apps wins the demo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/>
          <p:nvPr/>
        </p:nvSpPr>
        <p:spPr>
          <a:xfrm>
            <a:off x="731520" y="2194560"/>
            <a:ext cx="51206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Visual workflow diagram with green/red checkmarks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Inputs + outputs for every action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One-click App Insights integration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7A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E87A7A"/>
                </a:solidFill>
                <a:latin typeface="Calibri"/>
                <a:ea typeface="Calibri"/>
                <a:cs typeface="Calibri"/>
                <a:sym typeface="Calibri"/>
              </a:rPr>
              <a:t>But…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The red X on Check_Valid was two levels ABOVE where the actual bug lived.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3"/>
          <p:cNvSpPr/>
          <p:nvPr/>
        </p:nvSpPr>
        <p:spPr>
          <a:xfrm>
            <a:off x="6309360" y="1463040"/>
            <a:ext cx="5486400" cy="4754880"/>
          </a:xfrm>
          <a:prstGeom prst="roundRect">
            <a:avLst>
              <a:gd fmla="val 1923" name="adj"/>
            </a:avLst>
          </a:prstGeom>
          <a:solidFill>
            <a:srgbClr val="FFFFFF"/>
          </a:solidFill>
          <a:ln cap="flat" cmpd="sng" w="254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"/>
          <p:cNvSpPr/>
          <p:nvPr/>
        </p:nvSpPr>
        <p:spPr>
          <a:xfrm>
            <a:off x="6492240" y="164592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Durable wins the forensics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3"/>
          <p:cNvSpPr/>
          <p:nvPr/>
        </p:nvSpPr>
        <p:spPr>
          <a:xfrm>
            <a:off x="6492240" y="2194560"/>
            <a:ext cx="5120640" cy="3840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Queryable orchestration state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Instance + history tables as structured data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Replay any instance from any checkpoint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Structured logs via App Insights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Trade-off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Requires more setup — enable App Insights, learn the query surface.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4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14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12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4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6  •  Cost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1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Estimates using Azure Pricing Calculator; ~75% auto-approved, 25% manager-approved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57" name="Google Shape;257;p14"/>
          <p:cNvGraphicFramePr/>
          <p:nvPr/>
        </p:nvGraphicFramePr>
        <p:xfrm>
          <a:off x="54864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{18F924BE-73D6-4B65-BDC4-EC49AF1AB63F}</a:tableStyleId>
              </a:tblPr>
              <a:tblGrid>
                <a:gridCol w="3657600"/>
                <a:gridCol w="3749050"/>
                <a:gridCol w="37490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Scenario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Durable Functions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Logic Apps + Service Bus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A1D3A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 expenses / day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CF97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FCF9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~$2 / month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~$8–12 / month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FFF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A1A2E"/>
                        </a:buClr>
                        <a:buSzPts val="1600"/>
                        <a:buFont typeface="Calibri"/>
                        <a:buNone/>
                      </a:pPr>
                      <a:r>
                        <a:rPr lang="en-US" sz="1600" u="none" cap="none" strike="noStrike">
                          <a:solidFill>
                            <a:srgbClr val="1A1A2E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10,000 expenses / day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FCF97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6FCF97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~$40 / month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87A7A"/>
                        </a:buClr>
                        <a:buSzPts val="1600"/>
                        <a:buFont typeface="Calibri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E87A7A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~$600–900 / month</a:t>
                      </a:r>
                      <a:endParaRPr sz="16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D5DBE3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0F4F8"/>
                    </a:solidFill>
                  </a:tcPr>
                </a:tc>
              </a:tr>
            </a:tbl>
          </a:graphicData>
        </a:graphic>
      </p:graphicFrame>
      <p:sp>
        <p:nvSpPr>
          <p:cNvPr id="258" name="Google Shape;258;p14"/>
          <p:cNvSpPr/>
          <p:nvPr/>
        </p:nvSpPr>
        <p:spPr>
          <a:xfrm>
            <a:off x="548640" y="3931920"/>
            <a:ext cx="11155680" cy="2286000"/>
          </a:xfrm>
          <a:prstGeom prst="roundRect">
            <a:avLst>
              <a:gd fmla="val 4000" name="adj"/>
            </a:avLst>
          </a:prstGeom>
          <a:solidFill>
            <a:srgbClr val="FFFFFF"/>
          </a:solidFill>
          <a:ln cap="flat" cmpd="sng" w="12700">
            <a:solidFill>
              <a:srgbClr val="D5DBE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14"/>
          <p:cNvSpPr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Why the gap widens at scale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822960" y="4572000"/>
            <a:ext cx="10515600" cy="1645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Logic Apps bills per action execution.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One expense = 10–15 actions inside the workflow; per-action cost accumulates fast.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Calibri"/>
              <a:buNone/>
            </a:pPr>
            <a:r>
              <a:rPr b="0" i="0" lang="en-US" sz="6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Durable Functions bills per execution and GB-seconds.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Idle orchestration waits (24-hour approval window) cost nothing — the orchestrator is dehydrated.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D3A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5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5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13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5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Recommendation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15"/>
          <p:cNvSpPr/>
          <p:nvPr/>
        </p:nvSpPr>
        <p:spPr>
          <a:xfrm>
            <a:off x="548640" y="1051560"/>
            <a:ext cx="914400" cy="54864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548640" y="1645920"/>
            <a:ext cx="11155680" cy="1828800"/>
          </a:xfrm>
          <a:prstGeom prst="roundRect">
            <a:avLst>
              <a:gd fmla="val 5000" name="adj"/>
            </a:avLst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822960" y="1828800"/>
            <a:ext cx="106070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For production:  Durable Functions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5"/>
          <p:cNvSpPr/>
          <p:nvPr/>
        </p:nvSpPr>
        <p:spPr>
          <a:xfrm>
            <a:off x="822960" y="2606040"/>
            <a:ext cx="1060704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ADCFC"/>
              </a:buClr>
              <a:buSzPts val="1500"/>
              <a:buFont typeface="Calibri"/>
              <a:buNone/>
            </a:pPr>
            <a:r>
              <a:rPr b="0" i="1" lang="en-US" sz="1500" u="none" cap="none" strike="noStrike">
                <a:solidFill>
                  <a:srgbClr val="CADCFC"/>
                </a:solidFill>
                <a:latin typeface="Calibri"/>
                <a:ea typeface="Calibri"/>
                <a:cs typeface="Calibri"/>
                <a:sym typeface="Calibri"/>
              </a:rPr>
              <a:t>Human-approval is the core of this workflow. Durable Functions models it natively via wait_for_external_event + timer-in-task-any — eliminating three classes of bugs I hit in Version B.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/>
          <p:nvPr/>
        </p:nvSpPr>
        <p:spPr>
          <a:xfrm>
            <a:off x="548640" y="3749040"/>
            <a:ext cx="11155680" cy="2468880"/>
          </a:xfrm>
          <a:prstGeom prst="roundRect">
            <a:avLst>
              <a:gd fmla="val 3704" name="adj"/>
            </a:avLst>
          </a:prstGeom>
          <a:solidFill>
            <a:srgbClr val="1A3155"/>
          </a:solidFill>
          <a:ln cap="flat" cmpd="sng" w="12700">
            <a:solidFill>
              <a:srgbClr val="1A31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822960" y="393192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Logic Apps wins when: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5"/>
          <p:cNvSpPr/>
          <p:nvPr/>
        </p:nvSpPr>
        <p:spPr>
          <a:xfrm>
            <a:off x="822960" y="4572000"/>
            <a:ext cx="182880" cy="182880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1143000" y="448056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Implementing team is non-developer (business analysts, ops)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/>
          <p:nvPr/>
        </p:nvSpPr>
        <p:spPr>
          <a:xfrm>
            <a:off x="822960" y="5120640"/>
            <a:ext cx="182880" cy="182880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1143000" y="502920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Workflow is genuinely low-volume (&lt; 50/day)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15"/>
          <p:cNvSpPr/>
          <p:nvPr/>
        </p:nvSpPr>
        <p:spPr>
          <a:xfrm>
            <a:off x="822960" y="5669280"/>
            <a:ext cx="182880" cy="182880"/>
          </a:xfrm>
          <a:prstGeom prst="ellipse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1143000" y="5577840"/>
            <a:ext cx="10332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Integration with many SaaS systems (Salesforce, ServiceNow, SAP) matters more than programmability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9FC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6"/>
          <p:cNvSpPr/>
          <p:nvPr/>
        </p:nvSpPr>
        <p:spPr>
          <a:xfrm>
            <a:off x="0" y="6583680"/>
            <a:ext cx="12161520" cy="274320"/>
          </a:xfrm>
          <a:prstGeom prst="rect">
            <a:avLst/>
          </a:prstGeom>
          <a:solidFill>
            <a:srgbClr val="0A1D3A"/>
          </a:solidFill>
          <a:ln cap="flat" cmpd="sng" w="12700">
            <a:solidFill>
              <a:srgbClr val="0A1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6"/>
          <p:cNvSpPr/>
          <p:nvPr/>
        </p:nvSpPr>
        <p:spPr>
          <a:xfrm>
            <a:off x="365760" y="6601968"/>
            <a:ext cx="731520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CST8917 Final  •  Dharti Patel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6"/>
          <p:cNvSpPr/>
          <p:nvPr/>
        </p:nvSpPr>
        <p:spPr>
          <a:xfrm>
            <a:off x="11338560" y="6601968"/>
            <a:ext cx="5486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14 / 15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6"/>
          <p:cNvSpPr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1D3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1D3A"/>
                </a:solidFill>
                <a:latin typeface="Calibri"/>
                <a:ea typeface="Calibri"/>
                <a:cs typeface="Calibri"/>
                <a:sym typeface="Calibri"/>
              </a:rPr>
              <a:t>Lessons Learned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6"/>
          <p:cNvSpPr/>
          <p:nvPr/>
        </p:nvSpPr>
        <p:spPr>
          <a:xfrm>
            <a:off x="548640" y="1005840"/>
            <a:ext cx="109728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400"/>
              <a:buFont typeface="Calibri"/>
              <a:buNone/>
            </a:pPr>
            <a:r>
              <a:rPr b="0" i="1" lang="en-US" sz="14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Real bugs, real diagnoses, real fixes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6"/>
          <p:cNvSpPr/>
          <p:nvPr/>
        </p:nvSpPr>
        <p:spPr>
          <a:xfrm>
            <a:off x="548640" y="1691640"/>
            <a:ext cx="111556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254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16"/>
          <p:cNvSpPr/>
          <p:nvPr/>
        </p:nvSpPr>
        <p:spPr>
          <a:xfrm>
            <a:off x="548640" y="1691640"/>
            <a:ext cx="137160" cy="1325880"/>
          </a:xfrm>
          <a:prstGeom prst="rect">
            <a:avLst/>
          </a:prstGeom>
          <a:solidFill>
            <a:srgbClr val="0A6CB8"/>
          </a:solidFill>
          <a:ln cap="flat" cmpd="sng" w="12700">
            <a:solidFill>
              <a:srgbClr val="0A6C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16"/>
          <p:cNvSpPr/>
          <p:nvPr/>
        </p:nvSpPr>
        <p:spPr>
          <a:xfrm>
            <a:off x="822960" y="187452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A6CB8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0A6CB8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6"/>
          <p:cNvSpPr/>
          <p:nvPr/>
        </p:nvSpPr>
        <p:spPr>
          <a:xfrm>
            <a:off x="1737360" y="182880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Base64 on ContentData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6"/>
          <p:cNvSpPr/>
          <p:nvPr/>
        </p:nvSpPr>
        <p:spPr>
          <a:xfrm>
            <a:off x="1737360" y="224028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Sending JSON strings to a topic fails silently until you wrap in @base64(string(…)). No error — just no messages. Taught me to always verify via topic metrics.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6"/>
          <p:cNvSpPr/>
          <p:nvPr/>
        </p:nvSpPr>
        <p:spPr>
          <a:xfrm>
            <a:off x="548640" y="3246120"/>
            <a:ext cx="111556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254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16"/>
          <p:cNvSpPr/>
          <p:nvPr/>
        </p:nvSpPr>
        <p:spPr>
          <a:xfrm>
            <a:off x="548640" y="3246120"/>
            <a:ext cx="137160" cy="132588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16"/>
          <p:cNvSpPr/>
          <p:nvPr/>
        </p:nvSpPr>
        <p:spPr>
          <a:xfrm>
            <a:off x="822960" y="342900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6B35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6B35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6"/>
          <p:cNvSpPr/>
          <p:nvPr/>
        </p:nvSpPr>
        <p:spPr>
          <a:xfrm>
            <a:off x="1737360" y="338328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Peek-lock polling concurrency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6"/>
          <p:cNvSpPr/>
          <p:nvPr/>
        </p:nvSpPr>
        <p:spPr>
          <a:xfrm>
            <a:off x="1737360" y="379476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30-second polling on a non-empty queue spawns competing runs. "Losing" runs fail on lock tokens. Run history inflates with apparent failures that aren't real.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6"/>
          <p:cNvSpPr/>
          <p:nvPr/>
        </p:nvSpPr>
        <p:spPr>
          <a:xfrm>
            <a:off x="548640" y="4800600"/>
            <a:ext cx="11155680" cy="1325880"/>
          </a:xfrm>
          <a:prstGeom prst="roundRect">
            <a:avLst>
              <a:gd fmla="val 5517" name="adj"/>
            </a:avLst>
          </a:prstGeom>
          <a:solidFill>
            <a:srgbClr val="FFFFFF"/>
          </a:solidFill>
          <a:ln cap="flat" cmpd="sng" w="254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548640" y="4800600"/>
            <a:ext cx="137160" cy="1325880"/>
          </a:xfrm>
          <a:prstGeom prst="rect">
            <a:avLst/>
          </a:prstGeom>
          <a:solidFill>
            <a:srgbClr val="E87A7A"/>
          </a:solidFill>
          <a:ln cap="flat" cmpd="sng" w="12700">
            <a:solidFill>
              <a:srgbClr val="E87A7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16"/>
          <p:cNvSpPr/>
          <p:nvPr/>
        </p:nvSpPr>
        <p:spPr>
          <a:xfrm>
            <a:off x="822960" y="4983480"/>
            <a:ext cx="7315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7A7A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E87A7A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/>
          <p:nvPr/>
        </p:nvSpPr>
        <p:spPr>
          <a:xfrm>
            <a:off x="1737360" y="4937760"/>
            <a:ext cx="9601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A1A2E"/>
              </a:buClr>
              <a:buSzPts val="1800"/>
              <a:buFont typeface="Calibri"/>
              <a:buNone/>
            </a:pPr>
            <a:r>
              <a:rPr b="1" i="0" lang="en-US" sz="1800" u="none" cap="none" strike="noStrike">
                <a:solidFill>
                  <a:srgbClr val="1A1A2E"/>
                </a:solidFill>
                <a:latin typeface="Calibri"/>
                <a:ea typeface="Calibri"/>
                <a:cs typeface="Calibri"/>
                <a:sym typeface="Calibri"/>
              </a:rPr>
              <a:t>Empty array in result() on timeout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/>
          <p:nvPr/>
        </p:nvSpPr>
        <p:spPr>
          <a:xfrm>
            <a:off x="1737360" y="5349240"/>
            <a:ext cx="9601200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D6D7E"/>
              </a:buClr>
              <a:buSzPts val="1200"/>
              <a:buFont typeface="Calibri"/>
              <a:buNone/>
            </a:pPr>
            <a:r>
              <a:rPr b="0" i="0" lang="en-US" sz="1200" u="none" cap="none" strike="noStrike">
                <a:solidFill>
                  <a:srgbClr val="5D6D7E"/>
                </a:solidFill>
                <a:latin typeface="Calibri"/>
                <a:ea typeface="Calibri"/>
                <a:cs typeface="Calibri"/>
                <a:sym typeface="Calibri"/>
              </a:rPr>
              <a:t>@result('Scope', 'Succeeded')[0]['status'] errors out when filter returns []. Fix: @length(…) &gt; 0 first. A try/except in Python catches this at runtime — Logic Apps does not.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D3A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7"/>
          <p:cNvSpPr/>
          <p:nvPr/>
        </p:nvSpPr>
        <p:spPr>
          <a:xfrm>
            <a:off x="5486400" y="2286000"/>
            <a:ext cx="109728" cy="2286000"/>
          </a:xfrm>
          <a:prstGeom prst="rect">
            <a:avLst/>
          </a:prstGeom>
          <a:solidFill>
            <a:srgbClr val="FF6B35"/>
          </a:solidFill>
          <a:ln cap="flat" cmpd="sng" w="12700">
            <a:solidFill>
              <a:srgbClr val="FF6B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7"/>
          <p:cNvSpPr/>
          <p:nvPr/>
        </p:nvSpPr>
        <p:spPr>
          <a:xfrm>
            <a:off x="5943600" y="2468880"/>
            <a:ext cx="5943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7"/>
          <p:cNvSpPr/>
          <p:nvPr/>
        </p:nvSpPr>
        <p:spPr>
          <a:xfrm>
            <a:off x="5943600" y="3657600"/>
            <a:ext cx="5943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2800"/>
              <a:buFont typeface="Calibri"/>
              <a:buNone/>
            </a:pPr>
            <a:r>
              <a:rPr b="0" i="1" lang="en-US" sz="28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Questions?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7"/>
          <p:cNvSpPr/>
          <p:nvPr/>
        </p:nvSpPr>
        <p:spPr>
          <a:xfrm>
            <a:off x="5943600" y="4754880"/>
            <a:ext cx="5943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Dharti Patel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BC6DE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BBC6DE"/>
                </a:solidFill>
                <a:latin typeface="Calibri"/>
                <a:ea typeface="Calibri"/>
                <a:cs typeface="Calibri"/>
                <a:sym typeface="Calibri"/>
              </a:rPr>
              <a:t>CST8917 — April 21, 2026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